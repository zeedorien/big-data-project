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Sora SemiBold"/>
      <p:regular r:id="rId25"/>
      <p:bold r:id="rId26"/>
    </p:embeddedFont>
    <p:embeddedFont>
      <p:font typeface="IBM Plex Sans Medium"/>
      <p:regular r:id="rId27"/>
      <p:bold r:id="rId28"/>
      <p:italic r:id="rId29"/>
      <p:boldItalic r:id="rId30"/>
    </p:embeddedFont>
    <p:embeddedFont>
      <p:font typeface="Sora Light"/>
      <p:regular r:id="rId31"/>
      <p:bold r:id="rId32"/>
    </p:embeddedFont>
    <p:embeddedFont>
      <p:font typeface="Sora ExtraLight"/>
      <p:regular r:id="rId33"/>
      <p:bold r:id="rId34"/>
    </p:embeddedFont>
    <p:embeddedFont>
      <p:font typeface="Sora"/>
      <p:regular r:id="rId35"/>
      <p:bold r:id="rId36"/>
    </p:embeddedFont>
    <p:embeddedFont>
      <p:font typeface="Sora Medium"/>
      <p:regular r:id="rId37"/>
      <p:bold r:id="rId38"/>
    </p:embeddedFont>
    <p:embeddedFont>
      <p:font typeface="IBM Plex Sa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.fntdata"/><Relationship Id="rId42" Type="http://schemas.openxmlformats.org/officeDocument/2006/relationships/font" Target="fonts/IBMPlexSansSemiBold-boldItalic.fntdata"/><Relationship Id="rId41" Type="http://schemas.openxmlformats.org/officeDocument/2006/relationships/font" Target="fonts/IBMPlex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Light-regular.fntdata"/><Relationship Id="rId30" Type="http://schemas.openxmlformats.org/officeDocument/2006/relationships/font" Target="fonts/IBMPlexSansMedium-boldItalic.fntdata"/><Relationship Id="rId33" Type="http://schemas.openxmlformats.org/officeDocument/2006/relationships/font" Target="fonts/SoraExtraLight-regular.fntdata"/><Relationship Id="rId32" Type="http://schemas.openxmlformats.org/officeDocument/2006/relationships/font" Target="fonts/SoraLight-bold.fntdata"/><Relationship Id="rId35" Type="http://schemas.openxmlformats.org/officeDocument/2006/relationships/font" Target="fonts/Sora-regular.fntdata"/><Relationship Id="rId34" Type="http://schemas.openxmlformats.org/officeDocument/2006/relationships/font" Target="fonts/SoraExtraLight-bold.fntdata"/><Relationship Id="rId37" Type="http://schemas.openxmlformats.org/officeDocument/2006/relationships/font" Target="fonts/SoraMedium-regular.fntdata"/><Relationship Id="rId36" Type="http://schemas.openxmlformats.org/officeDocument/2006/relationships/font" Target="fonts/Sora-bold.fntdata"/><Relationship Id="rId39" Type="http://schemas.openxmlformats.org/officeDocument/2006/relationships/font" Target="fonts/IBMPlexSansSemiBold-regular.fntdata"/><Relationship Id="rId38" Type="http://schemas.openxmlformats.org/officeDocument/2006/relationships/font" Target="fonts/SoraMedium-bold.fntdata"/><Relationship Id="rId20" Type="http://schemas.openxmlformats.org/officeDocument/2006/relationships/slide" Target="slides/slide15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26" Type="http://schemas.openxmlformats.org/officeDocument/2006/relationships/font" Target="fonts/SoraSemiBold-bold.fntdata"/><Relationship Id="rId25" Type="http://schemas.openxmlformats.org/officeDocument/2006/relationships/font" Target="fonts/SoraSemiBold-regular.fntdata"/><Relationship Id="rId28" Type="http://schemas.openxmlformats.org/officeDocument/2006/relationships/font" Target="fonts/IBMPlexSansMedium-bold.fntdata"/><Relationship Id="rId27" Type="http://schemas.openxmlformats.org/officeDocument/2006/relationships/font" Target="fonts/IBMPlexSansMedium-regular.fntdata"/><Relationship Id="rId29" Type="http://schemas.openxmlformats.org/officeDocument/2006/relationships/font" Target="fonts/IBMPlexSans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ba33c1a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dba33c1a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dba33c1a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dba33c1a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dba33c1a0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dba33c1a0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dba33c1a0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dba33c1a0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dba33c1a02_0_1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dba33c1a02_0_1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dba33c1a0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dba33c1a0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9a88fbb8e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9a88fbb8e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9a88fbb8e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9a88fbb8e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9a88fbb8e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9a88fbb8e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dba33c1a02_0_1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dba33c1a02_0_1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9a88fbb8e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9a88fbb8e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9a88fbb8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9a88fbb8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dba33c1a02_0_1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dba33c1a02_0_1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dba33c1a02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dba33c1a02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dba33c1a02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dba33c1a02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Shreyon Roy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Crystal Zhang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Dorien Zhang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1566525"/>
            <a:ext cx="5914800" cy="27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chemeClr val="dk2"/>
                </a:solidFill>
              </a:rPr>
              <a:t>Beyond the Tarmac: Predicting Airline Delay Causes</a:t>
            </a:r>
            <a:endParaRPr sz="4900"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CS-GY 6513 Big Data Spring 2026 Section D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897" name="Google Shape;897;p5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Analysis &amp; Visualizations</a:t>
            </a:r>
            <a:endParaRPr sz="1300"/>
          </a:p>
        </p:txBody>
      </p:sp>
      <p:sp>
        <p:nvSpPr>
          <p:cNvPr id="898" name="Google Shape;898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899" name="Google Shape;899;p5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Tools &amp; Processing</a:t>
            </a:r>
            <a:endParaRPr sz="1300"/>
          </a:p>
        </p:txBody>
      </p:sp>
      <p:sp>
        <p:nvSpPr>
          <p:cNvPr id="900" name="Google Shape;900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1" name="Google Shape;901;p5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Objectives</a:t>
            </a:r>
            <a:endParaRPr sz="1300"/>
          </a:p>
        </p:txBody>
      </p:sp>
      <p:sp>
        <p:nvSpPr>
          <p:cNvPr id="902" name="Google Shape;902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3" name="Google Shape;903;p5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Data Source</a:t>
            </a:r>
            <a:endParaRPr sz="1300"/>
          </a:p>
        </p:txBody>
      </p:sp>
      <p:sp>
        <p:nvSpPr>
          <p:cNvPr id="904" name="Google Shape;904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5" name="Google Shape;905;p52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Conclusion</a:t>
            </a:r>
            <a:endParaRPr sz="1300"/>
          </a:p>
        </p:txBody>
      </p:sp>
      <p:sp>
        <p:nvSpPr>
          <p:cNvPr id="906" name="Google Shape;906;p5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07" name="Google Shape;907;p52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Prediction Model Demo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3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</p:txBody>
      </p:sp>
      <p:sp>
        <p:nvSpPr>
          <p:cNvPr id="913" name="Google Shape;913;p53"/>
          <p:cNvSpPr txBox="1"/>
          <p:nvPr>
            <p:ph idx="4" type="title"/>
          </p:nvPr>
        </p:nvSpPr>
        <p:spPr>
          <a:xfrm>
            <a:off x="115025" y="1383900"/>
            <a:ext cx="1954200" cy="6240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Dataset</a:t>
            </a:r>
            <a:endParaRPr sz="2000"/>
          </a:p>
        </p:txBody>
      </p:sp>
      <p:sp>
        <p:nvSpPr>
          <p:cNvPr id="914" name="Google Shape;914;p53"/>
          <p:cNvSpPr txBox="1"/>
          <p:nvPr>
            <p:ph idx="7" type="body"/>
          </p:nvPr>
        </p:nvSpPr>
        <p:spPr>
          <a:xfrm>
            <a:off x="115025" y="2008000"/>
            <a:ext cx="4410000" cy="26757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Source: United States Bureau of Transportation Statistics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Size: 67.4 MB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Records: 417,124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Each record contains </a:t>
            </a: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flight </a:t>
            </a: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delay information on an airline at a given airport. The selected dataset is from June 2003-November 2025.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15" name="Google Shape;915;p53"/>
          <p:cNvSpPr txBox="1"/>
          <p:nvPr>
            <p:ph idx="4" type="title"/>
          </p:nvPr>
        </p:nvSpPr>
        <p:spPr>
          <a:xfrm>
            <a:off x="4572000" y="1361238"/>
            <a:ext cx="1954200" cy="6240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Details</a:t>
            </a:r>
            <a:endParaRPr sz="2000">
              <a:solidFill>
                <a:schemeClr val="accent6"/>
              </a:solidFill>
            </a:endParaRPr>
          </a:p>
        </p:txBody>
      </p:sp>
      <p:pic>
        <p:nvPicPr>
          <p:cNvPr id="916" name="Google Shape;91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700" y="1922400"/>
            <a:ext cx="4210200" cy="2830800"/>
          </a:xfrm>
          <a:prstGeom prst="roundRect">
            <a:avLst>
              <a:gd fmla="val 587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1" name="Google Shape;921;p54"/>
          <p:cNvCxnSpPr/>
          <p:nvPr/>
        </p:nvCxnSpPr>
        <p:spPr>
          <a:xfrm>
            <a:off x="1586813" y="2606175"/>
            <a:ext cx="5367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54"/>
          <p:cNvSpPr/>
          <p:nvPr/>
        </p:nvSpPr>
        <p:spPr>
          <a:xfrm>
            <a:off x="3254250" y="242557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3" name="Google Shape;923;p54"/>
          <p:cNvSpPr/>
          <p:nvPr/>
        </p:nvSpPr>
        <p:spPr>
          <a:xfrm>
            <a:off x="1525350" y="242557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4" name="Google Shape;924;p54"/>
          <p:cNvSpPr/>
          <p:nvPr/>
        </p:nvSpPr>
        <p:spPr>
          <a:xfrm>
            <a:off x="5114538" y="242558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5" name="Google Shape;925;p54"/>
          <p:cNvSpPr/>
          <p:nvPr/>
        </p:nvSpPr>
        <p:spPr>
          <a:xfrm>
            <a:off x="6954117" y="219307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6" name="Google Shape;926;p54"/>
          <p:cNvSpPr txBox="1"/>
          <p:nvPr>
            <p:ph idx="5" type="title"/>
          </p:nvPr>
        </p:nvSpPr>
        <p:spPr>
          <a:xfrm>
            <a:off x="1018650" y="1960750"/>
            <a:ext cx="13746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927" name="Google Shape;927;p54"/>
          <p:cNvSpPr txBox="1"/>
          <p:nvPr>
            <p:ph idx="3" type="title"/>
          </p:nvPr>
        </p:nvSpPr>
        <p:spPr>
          <a:xfrm>
            <a:off x="3021900" y="196075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28" name="Google Shape;928;p54"/>
          <p:cNvSpPr txBox="1"/>
          <p:nvPr>
            <p:ph idx="4" type="title"/>
          </p:nvPr>
        </p:nvSpPr>
        <p:spPr>
          <a:xfrm>
            <a:off x="4756950" y="1960750"/>
            <a:ext cx="10764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endParaRPr/>
          </a:p>
        </p:txBody>
      </p:sp>
      <p:sp>
        <p:nvSpPr>
          <p:cNvPr id="929" name="Google Shape;929;p54"/>
          <p:cNvSpPr txBox="1"/>
          <p:nvPr>
            <p:ph idx="7" type="title"/>
          </p:nvPr>
        </p:nvSpPr>
        <p:spPr>
          <a:xfrm>
            <a:off x="6954113" y="172675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930" name="Google Shape;930;p54"/>
          <p:cNvSpPr txBox="1"/>
          <p:nvPr>
            <p:ph idx="1" type="body"/>
          </p:nvPr>
        </p:nvSpPr>
        <p:spPr>
          <a:xfrm>
            <a:off x="1052250" y="289040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the dataset to prevent interference with the data analysis</a:t>
            </a:r>
            <a:endParaRPr/>
          </a:p>
        </p:txBody>
      </p:sp>
      <p:sp>
        <p:nvSpPr>
          <p:cNvPr id="931" name="Google Shape;931;p54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932" name="Google Shape;932;p54"/>
          <p:cNvSpPr txBox="1"/>
          <p:nvPr>
            <p:ph idx="8" type="body"/>
          </p:nvPr>
        </p:nvSpPr>
        <p:spPr>
          <a:xfrm>
            <a:off x="4505400" y="289040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a model based on historical data for each airport and carrier</a:t>
            </a:r>
            <a:endParaRPr/>
          </a:p>
        </p:txBody>
      </p:sp>
      <p:sp>
        <p:nvSpPr>
          <p:cNvPr id="933" name="Google Shape;933;p54"/>
          <p:cNvSpPr txBox="1"/>
          <p:nvPr>
            <p:ph idx="14" type="body"/>
          </p:nvPr>
        </p:nvSpPr>
        <p:spPr>
          <a:xfrm>
            <a:off x="2746075" y="289040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trends between certain delay causes and identify important correlations</a:t>
            </a:r>
            <a:endParaRPr/>
          </a:p>
        </p:txBody>
      </p:sp>
      <p:sp>
        <p:nvSpPr>
          <p:cNvPr id="934" name="Google Shape;934;p54"/>
          <p:cNvSpPr txBox="1"/>
          <p:nvPr>
            <p:ph idx="13" type="body"/>
          </p:nvPr>
        </p:nvSpPr>
        <p:spPr>
          <a:xfrm>
            <a:off x="6569850" y="312440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model to predict the airline delay information at a given airport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5"/>
          <p:cNvSpPr txBox="1"/>
          <p:nvPr>
            <p:ph idx="4" type="title"/>
          </p:nvPr>
        </p:nvSpPr>
        <p:spPr>
          <a:xfrm>
            <a:off x="3154650" y="1383888"/>
            <a:ext cx="1954200" cy="6240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</a:rPr>
              <a:t>Analysis</a:t>
            </a:r>
            <a:endParaRPr sz="2000">
              <a:solidFill>
                <a:schemeClr val="accent3"/>
              </a:solidFill>
            </a:endParaRPr>
          </a:p>
        </p:txBody>
      </p:sp>
      <p:sp>
        <p:nvSpPr>
          <p:cNvPr id="940" name="Google Shape;940;p55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941" name="Google Shape;941;p55"/>
          <p:cNvSpPr txBox="1"/>
          <p:nvPr>
            <p:ph idx="4" type="title"/>
          </p:nvPr>
        </p:nvSpPr>
        <p:spPr>
          <a:xfrm>
            <a:off x="115025" y="1383900"/>
            <a:ext cx="1954200" cy="6240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Processing</a:t>
            </a:r>
            <a:endParaRPr sz="2000"/>
          </a:p>
        </p:txBody>
      </p:sp>
      <p:sp>
        <p:nvSpPr>
          <p:cNvPr id="942" name="Google Shape;942;p55"/>
          <p:cNvSpPr txBox="1"/>
          <p:nvPr>
            <p:ph idx="7" type="body"/>
          </p:nvPr>
        </p:nvSpPr>
        <p:spPr>
          <a:xfrm>
            <a:off x="115025" y="2008000"/>
            <a:ext cx="2948400" cy="26757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-3329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3"/>
              <a:buFont typeface="Sora Medium"/>
              <a:buChar char="●"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Python (Pandas)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43" name="Google Shape;943;p55"/>
          <p:cNvSpPr txBox="1"/>
          <p:nvPr>
            <p:ph idx="4" type="title"/>
          </p:nvPr>
        </p:nvSpPr>
        <p:spPr>
          <a:xfrm>
            <a:off x="6194275" y="1383900"/>
            <a:ext cx="2211000" cy="6240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Model</a:t>
            </a:r>
            <a:endParaRPr sz="2000">
              <a:solidFill>
                <a:schemeClr val="accent6"/>
              </a:solidFill>
            </a:endParaRPr>
          </a:p>
        </p:txBody>
      </p:sp>
      <p:sp>
        <p:nvSpPr>
          <p:cNvPr id="944" name="Google Shape;944;p55"/>
          <p:cNvSpPr txBox="1"/>
          <p:nvPr>
            <p:ph idx="7" type="body"/>
          </p:nvPr>
        </p:nvSpPr>
        <p:spPr>
          <a:xfrm>
            <a:off x="3154650" y="2008000"/>
            <a:ext cx="2948400" cy="26757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-3329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3"/>
              <a:buFont typeface="Sora Medium"/>
              <a:buChar char="●"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Matplotlib (Jupyter Notebook)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-3329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3"/>
              <a:buFont typeface="Sora Medium"/>
              <a:buChar char="●"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Observable Framework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-3329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3"/>
              <a:buFont typeface="Sora Medium"/>
              <a:buChar char="●"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DuckDB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-3329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3"/>
              <a:buFont typeface="Sora Medium"/>
              <a:buChar char="●"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D3.js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45" name="Google Shape;945;p55"/>
          <p:cNvSpPr txBox="1"/>
          <p:nvPr>
            <p:ph idx="7" type="body"/>
          </p:nvPr>
        </p:nvSpPr>
        <p:spPr>
          <a:xfrm>
            <a:off x="6170525" y="2008000"/>
            <a:ext cx="2948400" cy="26757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-3329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3"/>
              <a:buFont typeface="Sora Medium"/>
              <a:buChar char="●"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PySpark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6"/>
          <p:cNvSpPr txBox="1"/>
          <p:nvPr>
            <p:ph idx="4294967295" type="body"/>
          </p:nvPr>
        </p:nvSpPr>
        <p:spPr>
          <a:xfrm>
            <a:off x="115025" y="1390400"/>
            <a:ext cx="5359500" cy="3293400"/>
          </a:xfrm>
          <a:prstGeom prst="rect">
            <a:avLst/>
          </a:prstGeom>
        </p:spPr>
        <p:txBody>
          <a:bodyPr anchorCtr="0" anchor="t" bIns="136625" lIns="136625" spcFirstLastPara="1" rIns="136625" wrap="square" tIns="1366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We checked for invalid data: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-3329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3"/>
              <a:buFont typeface="Sora Medium"/>
              <a:buChar char="●"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incorrect year, month, airport code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-3329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3"/>
              <a:buFont typeface="Sora Medium"/>
              <a:buChar char="●"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duplicate/missing records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43">
                <a:latin typeface="Sora Medium"/>
                <a:ea typeface="Sora Medium"/>
                <a:cs typeface="Sora Medium"/>
                <a:sym typeface="Sora Medium"/>
              </a:rPr>
              <a:t>Carrier names were modified for our data to have a unique key.</a:t>
            </a:r>
            <a:endParaRPr sz="1643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51" name="Google Shape;951;p56"/>
          <p:cNvSpPr txBox="1"/>
          <p:nvPr>
            <p:ph idx="4294967295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</a:t>
            </a:r>
            <a:endParaRPr/>
          </a:p>
        </p:txBody>
      </p:sp>
      <p:pic>
        <p:nvPicPr>
          <p:cNvPr id="952" name="Google Shape;95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250" y="1490463"/>
            <a:ext cx="3688150" cy="25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56"/>
          <p:cNvSpPr txBox="1"/>
          <p:nvPr>
            <p:ph idx="4294967295" type="body"/>
          </p:nvPr>
        </p:nvSpPr>
        <p:spPr>
          <a:xfrm>
            <a:off x="5744275" y="3996575"/>
            <a:ext cx="2654100" cy="8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Ex. the carrier and carrier code fields were not unique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7"/>
          <p:cNvSpPr txBox="1"/>
          <p:nvPr>
            <p:ph idx="4294967295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 (matplot)</a:t>
            </a:r>
            <a:endParaRPr/>
          </a:p>
        </p:txBody>
      </p:sp>
      <p:pic>
        <p:nvPicPr>
          <p:cNvPr id="959" name="Google Shape;9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075" y="1186175"/>
            <a:ext cx="5893851" cy="3957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8"/>
          <p:cNvSpPr txBox="1"/>
          <p:nvPr>
            <p:ph idx="4294967295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 (matplot)</a:t>
            </a:r>
            <a:endParaRPr/>
          </a:p>
        </p:txBody>
      </p:sp>
      <p:pic>
        <p:nvPicPr>
          <p:cNvPr id="965" name="Google Shape;96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200" y="1186175"/>
            <a:ext cx="6055501" cy="3921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59"/>
          <p:cNvSpPr txBox="1"/>
          <p:nvPr>
            <p:ph idx="4294967295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 (matplot)</a:t>
            </a:r>
            <a:endParaRPr/>
          </a:p>
        </p:txBody>
      </p:sp>
      <p:pic>
        <p:nvPicPr>
          <p:cNvPr id="971" name="Google Shape;97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613" y="1186175"/>
            <a:ext cx="6812772" cy="39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0"/>
          <p:cNvSpPr txBox="1"/>
          <p:nvPr>
            <p:ph idx="4294967295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 (d3)</a:t>
            </a:r>
            <a:endParaRPr/>
          </a:p>
        </p:txBody>
      </p:sp>
      <p:pic>
        <p:nvPicPr>
          <p:cNvPr id="977" name="Google Shape;97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650" y="1079150"/>
            <a:ext cx="7914604" cy="39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1"/>
          <p:cNvSpPr txBox="1"/>
          <p:nvPr>
            <p:ph idx="4294967295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</a:t>
            </a:r>
            <a:endParaRPr/>
          </a:p>
        </p:txBody>
      </p:sp>
      <p:pic>
        <p:nvPicPr>
          <p:cNvPr id="983" name="Google Shape;9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50" y="1057001"/>
            <a:ext cx="8398705" cy="39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2"/>
          <p:cNvSpPr txBox="1"/>
          <p:nvPr>
            <p:ph idx="4294967295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</a:t>
            </a:r>
            <a:endParaRPr/>
          </a:p>
        </p:txBody>
      </p:sp>
      <p:pic>
        <p:nvPicPr>
          <p:cNvPr id="989" name="Google Shape;98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300" y="1103976"/>
            <a:ext cx="5761408" cy="397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3"/>
          <p:cNvSpPr txBox="1"/>
          <p:nvPr>
            <p:ph type="title"/>
          </p:nvPr>
        </p:nvSpPr>
        <p:spPr>
          <a:xfrm>
            <a:off x="380375" y="785700"/>
            <a:ext cx="30981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Demo</a:t>
            </a:r>
            <a:endParaRPr sz="6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5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